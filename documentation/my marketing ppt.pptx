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Raleway Heavy" charset="1" panose="00000000000000000000"/>
      <p:regular r:id="rId16"/>
    </p:embeddedFont>
    <p:embeddedFont>
      <p:font typeface="Raleway Bold" charset="1" panose="00000000000000000000"/>
      <p:regular r:id="rId17"/>
    </p:embeddedFont>
    <p:embeddedFont>
      <p:font typeface="Raleway" charset="1" panose="00000000000000000000"/>
      <p:regular r:id="rId18"/>
    </p:embeddedFont>
    <p:embeddedFont>
      <p:font typeface="Montserrat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0.jpeg" Type="http://schemas.openxmlformats.org/officeDocument/2006/relationships/image"/><Relationship Id="rId7" Target="../media/image11.jpeg" Type="http://schemas.openxmlformats.org/officeDocument/2006/relationships/image"/><Relationship Id="rId8" Target="../media/image12.jpeg" Type="http://schemas.openxmlformats.org/officeDocument/2006/relationships/image"/><Relationship Id="rId9" Target="../media/image1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5.jpeg" Type="http://schemas.openxmlformats.org/officeDocument/2006/relationships/image"/><Relationship Id="rId6" Target="../media/VAGn_231wHw.mp4" Type="http://schemas.openxmlformats.org/officeDocument/2006/relationships/video"/><Relationship Id="rId7" Target="../media/VAGn_231wHw.mp4" Type="http://schemas.microsoft.com/office/2007/relationships/media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6.jpeg" Type="http://schemas.openxmlformats.org/officeDocument/2006/relationships/image"/><Relationship Id="rId6" Target="../media/VAGn_hPTKLY.mp4" Type="http://schemas.openxmlformats.org/officeDocument/2006/relationships/video"/><Relationship Id="rId7" Target="../media/VAGn_hPTKLY.mp4" Type="http://schemas.microsoft.com/office/2007/relationships/media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2283244">
            <a:off x="-4759168" y="4375423"/>
            <a:ext cx="10358005" cy="10410055"/>
          </a:xfrm>
          <a:custGeom>
            <a:avLst/>
            <a:gdLst/>
            <a:ahLst/>
            <a:cxnLst/>
            <a:rect r="r" b="b" t="t" l="l"/>
            <a:pathLst>
              <a:path h="10410055" w="10358005">
                <a:moveTo>
                  <a:pt x="10358005" y="0"/>
                </a:moveTo>
                <a:lnTo>
                  <a:pt x="0" y="0"/>
                </a:lnTo>
                <a:lnTo>
                  <a:pt x="0" y="10410055"/>
                </a:lnTo>
                <a:lnTo>
                  <a:pt x="10358005" y="10410055"/>
                </a:lnTo>
                <a:lnTo>
                  <a:pt x="10358005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30741" y="-10904054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533822" y="7719512"/>
            <a:ext cx="912505" cy="912505"/>
          </a:xfrm>
          <a:custGeom>
            <a:avLst/>
            <a:gdLst/>
            <a:ahLst/>
            <a:cxnLst/>
            <a:rect r="r" b="b" t="t" l="l"/>
            <a:pathLst>
              <a:path h="912505" w="912505">
                <a:moveTo>
                  <a:pt x="0" y="0"/>
                </a:moveTo>
                <a:lnTo>
                  <a:pt x="912504" y="0"/>
                </a:lnTo>
                <a:lnTo>
                  <a:pt x="912504" y="912504"/>
                </a:lnTo>
                <a:lnTo>
                  <a:pt x="0" y="9125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361577" y="986553"/>
            <a:ext cx="667852" cy="66785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155575"/>
              <a:ext cx="5588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2455026" y="-917369"/>
            <a:ext cx="4220884" cy="422088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469716" y="2111085"/>
            <a:ext cx="11730461" cy="242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90"/>
              </a:lnSpc>
              <a:spcBef>
                <a:spcPct val="0"/>
              </a:spcBef>
            </a:pPr>
            <a:r>
              <a:rPr lang="en-US" b="true" sz="17682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objectives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29295" y="6336261"/>
            <a:ext cx="10811303" cy="2231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49"/>
              </a:lnSpc>
              <a:spcBef>
                <a:spcPct val="0"/>
              </a:spcBef>
            </a:pPr>
            <a:r>
              <a:rPr lang="en-US" b="true" sz="16297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KPIs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79226" y="4065129"/>
            <a:ext cx="5156017" cy="4753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90"/>
              </a:lnSpc>
              <a:spcBef>
                <a:spcPct val="0"/>
              </a:spcBef>
            </a:pPr>
            <a:r>
              <a:rPr lang="en-US" b="true" sz="17682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&amp; KPIs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12262" y="8660591"/>
            <a:ext cx="3631063" cy="3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7"/>
              </a:lnSpc>
              <a:spcBef>
                <a:spcPct val="0"/>
              </a:spcBef>
            </a:pPr>
            <a:r>
              <a:rPr lang="en-US" sz="24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Presented by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12262" y="9034401"/>
            <a:ext cx="3631063" cy="4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6"/>
              </a:lnSpc>
              <a:spcBef>
                <a:spcPct val="0"/>
              </a:spcBef>
            </a:pPr>
            <a:r>
              <a:rPr lang="en-US" b="true" sz="2958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Malak Hendawy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309115" y="9072819"/>
            <a:ext cx="1716617" cy="3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7"/>
              </a:lnSpc>
              <a:spcBef>
                <a:spcPct val="0"/>
              </a:spcBef>
            </a:pPr>
            <a:r>
              <a:rPr lang="en-US" sz="24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Next Slide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882414" y="6088611"/>
            <a:ext cx="5809652" cy="580965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79439" y="-10904054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50" y="0"/>
                </a:lnTo>
                <a:lnTo>
                  <a:pt x="17956750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661483" y="2951751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50" y="0"/>
                </a:lnTo>
                <a:lnTo>
                  <a:pt x="17956750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361577" y="986553"/>
            <a:ext cx="667852" cy="66785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27000" y="155575"/>
              <a:ext cx="5588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0012" y="1993875"/>
            <a:ext cx="4959427" cy="10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 Objective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3555" y="889272"/>
            <a:ext cx="4266567" cy="10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SMART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909621"/>
            <a:ext cx="15567227" cy="5897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8327" indent="-359163" lvl="1">
              <a:lnSpc>
                <a:spcPts val="4657"/>
              </a:lnSpc>
              <a:buFont typeface="Arial"/>
              <a:buChar char="•"/>
            </a:pPr>
            <a:r>
              <a:rPr lang="en-US" b="true" sz="3327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Specific</a:t>
            </a:r>
            <a:r>
              <a:rPr lang="en-US" sz="3327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: Increase pre-orders for the Class of 2025 senior hoodies through a     targeted social media campaign.</a:t>
            </a:r>
          </a:p>
          <a:p>
            <a:pPr algn="l" marL="718327" indent="-359163" lvl="1">
              <a:lnSpc>
                <a:spcPts val="4657"/>
              </a:lnSpc>
              <a:buFont typeface="Arial"/>
              <a:buChar char="•"/>
            </a:pPr>
            <a:r>
              <a:rPr lang="en-US" b="true" sz="3327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Measurable</a:t>
            </a:r>
            <a:r>
              <a:rPr lang="en-US" sz="3327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: Aim to generate at least 150 pre-orders before the campaign ends.</a:t>
            </a:r>
          </a:p>
          <a:p>
            <a:pPr algn="l" marL="718327" indent="-359163" lvl="1">
              <a:lnSpc>
                <a:spcPts val="4657"/>
              </a:lnSpc>
              <a:buFont typeface="Arial"/>
              <a:buChar char="•"/>
            </a:pPr>
            <a:r>
              <a:rPr lang="en-US" b="true" sz="3327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Achievable</a:t>
            </a:r>
            <a:r>
              <a:rPr lang="en-US" sz="3327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: Leverage school social platforms and student influencers to reach students directly.</a:t>
            </a:r>
          </a:p>
          <a:p>
            <a:pPr algn="l" marL="718327" indent="-359163" lvl="1">
              <a:lnSpc>
                <a:spcPts val="4657"/>
              </a:lnSpc>
              <a:buFont typeface="Arial"/>
              <a:buChar char="•"/>
            </a:pPr>
            <a:r>
              <a:rPr lang="en-US" b="true" sz="3327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Relevant</a:t>
            </a:r>
            <a:r>
              <a:rPr lang="en-US" sz="3327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: Senior hoodies are a key graduation tradition and this campaign supports school spirit and merchandise revenue.</a:t>
            </a:r>
          </a:p>
          <a:p>
            <a:pPr algn="l" marL="718327" indent="-359163" lvl="1">
              <a:lnSpc>
                <a:spcPts val="4657"/>
              </a:lnSpc>
              <a:buFont typeface="Arial"/>
              <a:buChar char="•"/>
            </a:pPr>
            <a:r>
              <a:rPr lang="en-US" b="true" sz="3327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Time-bound</a:t>
            </a:r>
            <a:r>
              <a:rPr lang="en-US" sz="3327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: Complete the campaign and hit the pre-order goal within 4 weeks.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321617"/>
            <a:ext cx="15567227" cy="582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8327" indent="-359163" lvl="1">
              <a:lnSpc>
                <a:spcPts val="4657"/>
              </a:lnSpc>
              <a:buFont typeface="Arial"/>
              <a:buChar char="•"/>
            </a:pPr>
            <a:r>
              <a:rPr lang="en-US" b="true" sz="3327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Drive Sales Growth</a:t>
            </a:r>
          </a:p>
        </p:txBody>
      </p:sp>
      <p:sp>
        <p:nvSpPr>
          <p:cNvPr name="Freeform 12" id="12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25283" y="-1262009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40649" y="5426888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309115" y="9063294"/>
            <a:ext cx="1716617" cy="27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Next Slide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06955" y="719210"/>
            <a:ext cx="2920938" cy="2036567"/>
          </a:xfrm>
          <a:custGeom>
            <a:avLst/>
            <a:gdLst/>
            <a:ahLst/>
            <a:cxnLst/>
            <a:rect r="r" b="b" t="t" l="l"/>
            <a:pathLst>
              <a:path h="2036567" w="2920938">
                <a:moveTo>
                  <a:pt x="0" y="0"/>
                </a:moveTo>
                <a:lnTo>
                  <a:pt x="2920938" y="0"/>
                </a:lnTo>
                <a:lnTo>
                  <a:pt x="2920938" y="2036567"/>
                </a:lnTo>
                <a:lnTo>
                  <a:pt x="0" y="20365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08606" y="770036"/>
            <a:ext cx="4168556" cy="1934914"/>
            <a:chOff x="0" y="0"/>
            <a:chExt cx="5558074" cy="257988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80975"/>
              <a:ext cx="5558074" cy="23349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900"/>
                </a:lnSpc>
                <a:spcBef>
                  <a:spcPct val="0"/>
                </a:spcBef>
              </a:pPr>
              <a:r>
                <a:rPr lang="en-US" b="true" sz="12404">
                  <a:solidFill>
                    <a:srgbClr val="FFFFFF"/>
                  </a:solidFill>
                  <a:latin typeface="Raleway Heavy"/>
                  <a:ea typeface="Raleway Heavy"/>
                  <a:cs typeface="Raleway Heavy"/>
                  <a:sym typeface="Raleway Heavy"/>
                </a:rPr>
                <a:t>KPIs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44957"/>
              <a:ext cx="4626974" cy="23349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900"/>
                </a:lnSpc>
                <a:spcBef>
                  <a:spcPct val="0"/>
                </a:spcBef>
              </a:pPr>
              <a:r>
                <a:rPr lang="en-US" b="true" sz="12404">
                  <a:solidFill>
                    <a:srgbClr val="C6269E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KPIs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37388" y="2846040"/>
            <a:ext cx="14966269" cy="7004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1209" indent="-390604" lvl="1">
              <a:lnSpc>
                <a:spcPts val="5065"/>
              </a:lnSpc>
              <a:buAutoNum type="arabicPeriod" startAt="1"/>
            </a:pPr>
            <a:r>
              <a:rPr lang="en-US" sz="36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Number of pre-orders (Goal: 150+ in 4 weeks)</a:t>
            </a:r>
          </a:p>
          <a:p>
            <a:pPr algn="l" marL="781209" indent="-390604" lvl="1">
              <a:lnSpc>
                <a:spcPts val="5065"/>
              </a:lnSpc>
              <a:buAutoNum type="arabicPeriod" startAt="1"/>
            </a:pPr>
            <a:r>
              <a:rPr lang="en-US" sz="36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Social media engagement rate (likes, shares, comments – Goal: 10%+ engagement per post)</a:t>
            </a:r>
          </a:p>
          <a:p>
            <a:pPr algn="l" marL="781209" indent="-390604" lvl="1">
              <a:lnSpc>
                <a:spcPts val="5065"/>
              </a:lnSpc>
              <a:buAutoNum type="arabicPeriod" startAt="1"/>
            </a:pPr>
            <a:r>
              <a:rPr lang="en-US" sz="36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Hashtag usage (e.g. #SeniorFit25 – Goal: 100+ unique student posts)</a:t>
            </a:r>
          </a:p>
          <a:p>
            <a:pPr algn="l" marL="781209" indent="-390604" lvl="1">
              <a:lnSpc>
                <a:spcPts val="5065"/>
              </a:lnSpc>
              <a:buAutoNum type="arabicPeriod" startAt="1"/>
            </a:pPr>
            <a:r>
              <a:rPr lang="en-US" sz="36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Click-through rate (CTR) on hoodie order links (Goal: 5%+ CTR from Instagram bio and story links)</a:t>
            </a:r>
          </a:p>
          <a:p>
            <a:pPr algn="l" marL="781209" indent="-390604" lvl="1">
              <a:lnSpc>
                <a:spcPts val="5065"/>
              </a:lnSpc>
              <a:buAutoNum type="arabicPeriod" startAt="1"/>
            </a:pPr>
            <a:r>
              <a:rPr lang="en-US" sz="36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Reach/impressions on campaign posts (Goal: 10,000+ across platforms)</a:t>
            </a:r>
          </a:p>
          <a:p>
            <a:pPr algn="l" marL="781209" indent="-390604" lvl="1">
              <a:lnSpc>
                <a:spcPts val="5065"/>
              </a:lnSpc>
              <a:buAutoNum type="arabicPeriod" startAt="1"/>
            </a:pPr>
            <a:r>
              <a:rPr lang="en-US" sz="36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Email open rate if using newsletters (Goal: 30%+ open rate)</a:t>
            </a:r>
          </a:p>
          <a:p>
            <a:pPr algn="l">
              <a:lnSpc>
                <a:spcPts val="506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103299" y="383341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659675" y="-12354245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361577" y="986553"/>
            <a:ext cx="667852" cy="66785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27000" y="155575"/>
              <a:ext cx="5588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5309115" y="9063294"/>
            <a:ext cx="1716617" cy="27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Next Slide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6787240" y="3132406"/>
            <a:ext cx="4181174" cy="418117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333221" y="2392968"/>
            <a:ext cx="10417348" cy="7762734"/>
          </a:xfrm>
          <a:custGeom>
            <a:avLst/>
            <a:gdLst/>
            <a:ahLst/>
            <a:cxnLst/>
            <a:rect r="r" b="b" t="t" l="l"/>
            <a:pathLst>
              <a:path h="7762734" w="10417348">
                <a:moveTo>
                  <a:pt x="0" y="0"/>
                </a:moveTo>
                <a:lnTo>
                  <a:pt x="10417348" y="0"/>
                </a:lnTo>
                <a:lnTo>
                  <a:pt x="10417348" y="7762734"/>
                </a:lnTo>
                <a:lnTo>
                  <a:pt x="0" y="77627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0168" y="1010250"/>
            <a:ext cx="7016827" cy="2017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</a:pPr>
            <a:r>
              <a:rPr lang="en-US" sz="7475" b="true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Social Media </a:t>
            </a:r>
          </a:p>
          <a:p>
            <a:pPr algn="l">
              <a:lnSpc>
                <a:spcPts val="7774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099939"/>
            <a:ext cx="5267850" cy="10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Calendar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47191" y="-1107704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50" y="0"/>
                </a:lnTo>
                <a:lnTo>
                  <a:pt x="17956750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361577" y="986553"/>
            <a:ext cx="667852" cy="66785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27000" y="155575"/>
              <a:ext cx="5588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69722" y="2932006"/>
            <a:ext cx="3957282" cy="3977168"/>
          </a:xfrm>
          <a:custGeom>
            <a:avLst/>
            <a:gdLst/>
            <a:ahLst/>
            <a:cxnLst/>
            <a:rect r="r" b="b" t="t" l="l"/>
            <a:pathLst>
              <a:path h="3977168" w="3957282">
                <a:moveTo>
                  <a:pt x="0" y="0"/>
                </a:moveTo>
                <a:lnTo>
                  <a:pt x="3957283" y="0"/>
                </a:lnTo>
                <a:lnTo>
                  <a:pt x="3957283" y="3977168"/>
                </a:lnTo>
                <a:lnTo>
                  <a:pt x="0" y="39771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1" t="0" r="-251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309115" y="9063294"/>
            <a:ext cx="1716617" cy="27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Next Slide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698514" y="2374512"/>
            <a:ext cx="3977168" cy="3977168"/>
          </a:xfrm>
          <a:custGeom>
            <a:avLst/>
            <a:gdLst/>
            <a:ahLst/>
            <a:cxnLst/>
            <a:rect r="r" b="b" t="t" l="l"/>
            <a:pathLst>
              <a:path h="3977168" w="3977168">
                <a:moveTo>
                  <a:pt x="0" y="0"/>
                </a:moveTo>
                <a:lnTo>
                  <a:pt x="3977168" y="0"/>
                </a:lnTo>
                <a:lnTo>
                  <a:pt x="3977168" y="3977168"/>
                </a:lnTo>
                <a:lnTo>
                  <a:pt x="0" y="39771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847132" y="2374512"/>
            <a:ext cx="3977168" cy="3977168"/>
          </a:xfrm>
          <a:custGeom>
            <a:avLst/>
            <a:gdLst/>
            <a:ahLst/>
            <a:cxnLst/>
            <a:rect r="r" b="b" t="t" l="l"/>
            <a:pathLst>
              <a:path h="3977168" w="3977168">
                <a:moveTo>
                  <a:pt x="0" y="0"/>
                </a:moveTo>
                <a:lnTo>
                  <a:pt x="3977168" y="0"/>
                </a:lnTo>
                <a:lnTo>
                  <a:pt x="3977168" y="3977168"/>
                </a:lnTo>
                <a:lnTo>
                  <a:pt x="0" y="39771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995750" y="2932006"/>
            <a:ext cx="3864434" cy="3864434"/>
          </a:xfrm>
          <a:custGeom>
            <a:avLst/>
            <a:gdLst/>
            <a:ahLst/>
            <a:cxnLst/>
            <a:rect r="r" b="b" t="t" l="l"/>
            <a:pathLst>
              <a:path h="3864434" w="3864434">
                <a:moveTo>
                  <a:pt x="0" y="0"/>
                </a:moveTo>
                <a:lnTo>
                  <a:pt x="3864434" y="0"/>
                </a:lnTo>
                <a:lnTo>
                  <a:pt x="3864434" y="3864434"/>
                </a:lnTo>
                <a:lnTo>
                  <a:pt x="0" y="3864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687098" y="6545692"/>
            <a:ext cx="3741308" cy="3741308"/>
          </a:xfrm>
          <a:custGeom>
            <a:avLst/>
            <a:gdLst/>
            <a:ahLst/>
            <a:cxnLst/>
            <a:rect r="r" b="b" t="t" l="l"/>
            <a:pathLst>
              <a:path h="3741308" w="3741308">
                <a:moveTo>
                  <a:pt x="0" y="0"/>
                </a:moveTo>
                <a:lnTo>
                  <a:pt x="3741308" y="0"/>
                </a:lnTo>
                <a:lnTo>
                  <a:pt x="3741308" y="3741308"/>
                </a:lnTo>
                <a:lnTo>
                  <a:pt x="0" y="374130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28700" y="776483"/>
            <a:ext cx="4959427" cy="1153270"/>
            <a:chOff x="0" y="0"/>
            <a:chExt cx="6612569" cy="1537693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104775"/>
              <a:ext cx="6612569" cy="14115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774"/>
                </a:lnSpc>
                <a:spcBef>
                  <a:spcPct val="0"/>
                </a:spcBef>
              </a:pPr>
              <a:r>
                <a:rPr lang="en-US" b="true" sz="7475">
                  <a:solidFill>
                    <a:srgbClr val="FFFFFF"/>
                  </a:solidFill>
                  <a:latin typeface="Raleway Heavy"/>
                  <a:ea typeface="Raleway Heavy"/>
                  <a:cs typeface="Raleway Heavy"/>
                  <a:sym typeface="Raleway Heavy"/>
                </a:rPr>
                <a:t>Post 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99649"/>
              <a:ext cx="6241358" cy="13380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49"/>
                </a:lnSpc>
                <a:spcBef>
                  <a:spcPct val="0"/>
                </a:spcBef>
              </a:pPr>
              <a:r>
                <a:rPr lang="en-US" b="true" sz="7066">
                  <a:solidFill>
                    <a:srgbClr val="C6269E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Post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677784" y="1163680"/>
            <a:ext cx="2938691" cy="4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7"/>
              </a:lnSpc>
            </a:pPr>
            <a:r>
              <a:rPr lang="en-US" sz="2805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carousel format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69722" y="2012656"/>
            <a:ext cx="2938691" cy="4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7"/>
              </a:lnSpc>
            </a:pPr>
            <a:r>
              <a:rPr lang="en-US" sz="2805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creative 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47191" y="-1107704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50" y="0"/>
                </a:lnTo>
                <a:lnTo>
                  <a:pt x="17956750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361577" y="986553"/>
            <a:ext cx="667852" cy="66785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27000" y="155575"/>
              <a:ext cx="5588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2769799" y="360481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309115" y="9063294"/>
            <a:ext cx="1716617" cy="27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Next Slide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961014" y="2002124"/>
            <a:ext cx="7456696" cy="6738989"/>
          </a:xfrm>
          <a:custGeom>
            <a:avLst/>
            <a:gdLst/>
            <a:ahLst/>
            <a:cxnLst/>
            <a:rect r="r" b="b" t="t" l="l"/>
            <a:pathLst>
              <a:path h="6738989" w="7456696">
                <a:moveTo>
                  <a:pt x="0" y="0"/>
                </a:moveTo>
                <a:lnTo>
                  <a:pt x="7456696" y="0"/>
                </a:lnTo>
                <a:lnTo>
                  <a:pt x="7456696" y="6738990"/>
                </a:lnTo>
                <a:lnTo>
                  <a:pt x="0" y="67389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0168" y="995741"/>
            <a:ext cx="2938691" cy="57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7"/>
              </a:lnSpc>
            </a:pPr>
            <a:r>
              <a:rPr lang="en-US" sz="3305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caption 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49733" y="-972449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361577" y="986553"/>
            <a:ext cx="667852" cy="66785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27000" y="155575"/>
              <a:ext cx="5588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2769799" y="360481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309115" y="9063294"/>
            <a:ext cx="1716617" cy="27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Next Slide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9" id="9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rcRect l="0" t="3755" r="0" b="0"/>
          <a:stretch>
            <a:fillRect/>
          </a:stretch>
        </p:blipFill>
        <p:spPr>
          <a:xfrm flipH="false" flipV="false" rot="0">
            <a:off x="6307201" y="986553"/>
            <a:ext cx="4295013" cy="8763492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63778" y="784497"/>
            <a:ext cx="4595904" cy="1137242"/>
            <a:chOff x="0" y="0"/>
            <a:chExt cx="6127872" cy="151632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04775"/>
              <a:ext cx="4768179" cy="14115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774"/>
                </a:lnSpc>
                <a:spcBef>
                  <a:spcPct val="0"/>
                </a:spcBef>
              </a:pPr>
              <a:r>
                <a:rPr lang="en-US" b="true" sz="7475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Story 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72393"/>
              <a:ext cx="6127872" cy="1343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79"/>
                </a:lnSpc>
                <a:spcBef>
                  <a:spcPct val="0"/>
                </a:spcBef>
              </a:pPr>
              <a:r>
                <a:rPr lang="en-US" b="true" sz="7095">
                  <a:solidFill>
                    <a:srgbClr val="C6269E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Story</a:t>
              </a:r>
            </a:p>
          </p:txBody>
        </p:sp>
      </p:grp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25283" y="-1262009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40649" y="5426888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361577" y="986553"/>
            <a:ext cx="667852" cy="66785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27000" y="155575"/>
              <a:ext cx="5588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5309115" y="9063294"/>
            <a:ext cx="1716617" cy="27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Next Slide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2087854">
            <a:off x="-1517968" y="8193679"/>
            <a:ext cx="4186641" cy="418664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90575" cap="sq">
              <a:gradFill>
                <a:gsLst>
                  <a:gs pos="0">
                    <a:srgbClr val="F5DFF0">
                      <a:alpha val="2950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pic>
        <p:nvPicPr>
          <p:cNvPr name="Picture 12" id="12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rcRect l="0" t="4596" r="8378" b="4596"/>
          <a:stretch>
            <a:fillRect/>
          </a:stretch>
        </p:blipFill>
        <p:spPr>
          <a:xfrm flipH="false" flipV="false" rot="0">
            <a:off x="5620228" y="784497"/>
            <a:ext cx="5172412" cy="9046531"/>
          </a:xfrm>
          <a:prstGeom prst="rect">
            <a:avLst/>
          </a:prstGeom>
          <a:ln w="38100" cap="sq">
            <a:solidFill>
              <a:srgbClr val="FFFFFA"/>
            </a:solidFill>
            <a:prstDash val="solid"/>
          </a:ln>
        </p:spPr>
      </p:pic>
      <p:sp>
        <p:nvSpPr>
          <p:cNvPr name="TextBox 13" id="13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63877" y="784497"/>
            <a:ext cx="5375655" cy="1137242"/>
            <a:chOff x="0" y="0"/>
            <a:chExt cx="7167540" cy="1516323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104775"/>
              <a:ext cx="7167540" cy="14115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774"/>
                </a:lnSpc>
                <a:spcBef>
                  <a:spcPct val="0"/>
                </a:spcBef>
              </a:pPr>
              <a:r>
                <a:rPr lang="en-US" b="true" sz="7475">
                  <a:solidFill>
                    <a:srgbClr val="FFFFFF"/>
                  </a:solidFill>
                  <a:latin typeface="Raleway Heavy"/>
                  <a:ea typeface="Raleway Heavy"/>
                  <a:cs typeface="Raleway Heavy"/>
                  <a:sym typeface="Raleway Heavy"/>
                </a:rPr>
                <a:t>Reel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44713"/>
              <a:ext cx="6699921" cy="13221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267"/>
                </a:lnSpc>
                <a:spcBef>
                  <a:spcPct val="0"/>
                </a:spcBef>
              </a:pPr>
              <a:r>
                <a:rPr lang="en-US" b="true" sz="6988">
                  <a:solidFill>
                    <a:srgbClr val="C6269E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Reel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37726" y="2239294"/>
            <a:ext cx="2938691" cy="4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7"/>
              </a:lnSpc>
            </a:pPr>
            <a:r>
              <a:rPr lang="en-US" b="true" sz="2805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creative: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30741" y="-11126998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40649" y="7241479"/>
            <a:ext cx="17956749" cy="16232393"/>
          </a:xfrm>
          <a:custGeom>
            <a:avLst/>
            <a:gdLst/>
            <a:ahLst/>
            <a:cxnLst/>
            <a:rect r="r" b="b" t="t" l="l"/>
            <a:pathLst>
              <a:path h="16232393" w="17956749">
                <a:moveTo>
                  <a:pt x="0" y="0"/>
                </a:moveTo>
                <a:lnTo>
                  <a:pt x="17956749" y="0"/>
                </a:lnTo>
                <a:lnTo>
                  <a:pt x="17956749" y="16232393"/>
                </a:lnTo>
                <a:lnTo>
                  <a:pt x="0" y="16232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78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309115" y="9063294"/>
            <a:ext cx="1716617" cy="27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Next Slide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2087854">
            <a:off x="-2517375" y="-2327994"/>
            <a:ext cx="4655988" cy="465598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23850" cap="sq">
              <a:gradFill>
                <a:gsLst>
                  <a:gs pos="0">
                    <a:srgbClr val="F5DFF0">
                      <a:alpha val="2950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843873" y="1184023"/>
            <a:ext cx="10109766" cy="4376107"/>
          </a:xfrm>
          <a:custGeom>
            <a:avLst/>
            <a:gdLst/>
            <a:ahLst/>
            <a:cxnLst/>
            <a:rect r="r" b="b" t="t" l="l"/>
            <a:pathLst>
              <a:path h="4376107" w="10109766">
                <a:moveTo>
                  <a:pt x="0" y="0"/>
                </a:moveTo>
                <a:lnTo>
                  <a:pt x="10109766" y="0"/>
                </a:lnTo>
                <a:lnTo>
                  <a:pt x="10109766" y="4376107"/>
                </a:lnTo>
                <a:lnTo>
                  <a:pt x="0" y="43761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2296866"/>
            <a:ext cx="2580708" cy="721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3"/>
              </a:lnSpc>
            </a:pPr>
            <a:r>
              <a:rPr lang="en-US" sz="4202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Headline</a:t>
            </a:r>
            <a:r>
              <a:rPr lang="en-US" sz="4202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84719" y="8787727"/>
            <a:ext cx="6633163" cy="72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3"/>
              </a:lnSpc>
            </a:pPr>
            <a:r>
              <a:rPr lang="en-US" sz="4202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Create Yours Now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835847"/>
            <a:ext cx="3910745" cy="721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3"/>
              </a:lnSpc>
            </a:pPr>
            <a:r>
              <a:rPr lang="en-US" sz="4202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subheadline: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1074" y="8693770"/>
            <a:ext cx="3287290" cy="794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3"/>
              </a:lnSpc>
            </a:pPr>
            <a:r>
              <a:rPr lang="en-US" sz="4702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CTR: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1074" y="3154499"/>
            <a:ext cx="5788466" cy="146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3"/>
              </a:lnSpc>
            </a:pPr>
            <a:r>
              <a:rPr lang="en-US" sz="4202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Celebrate the legacy.Wear the story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1074" y="5769680"/>
            <a:ext cx="10194211" cy="2214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3"/>
              </a:lnSpc>
            </a:pPr>
            <a:r>
              <a:rPr lang="en-US" sz="4202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Custom-designed senior hoodies made to honor your final year crafted with pride, memories, and unmistakable style.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1133475"/>
            <a:ext cx="6213213" cy="10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Hero section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37255" y="-14622500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064449" y="5426888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361577" y="986553"/>
            <a:ext cx="667852" cy="66785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27000" y="155575"/>
              <a:ext cx="5588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5309115" y="9063294"/>
            <a:ext cx="1716617" cy="27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Next Slide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16998830" y="8999755"/>
            <a:ext cx="416017" cy="418299"/>
          </a:xfrm>
          <a:custGeom>
            <a:avLst/>
            <a:gdLst/>
            <a:ahLst/>
            <a:cxnLst/>
            <a:rect r="r" b="b" t="t" l="l"/>
            <a:pathLst>
              <a:path h="418299" w="416017">
                <a:moveTo>
                  <a:pt x="416017" y="0"/>
                </a:moveTo>
                <a:lnTo>
                  <a:pt x="0" y="0"/>
                </a:lnTo>
                <a:lnTo>
                  <a:pt x="0" y="418299"/>
                </a:lnTo>
                <a:lnTo>
                  <a:pt x="416017" y="418299"/>
                </a:lnTo>
                <a:lnTo>
                  <a:pt x="4160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138353" y="1709873"/>
            <a:ext cx="5584993" cy="7899178"/>
          </a:xfrm>
          <a:custGeom>
            <a:avLst/>
            <a:gdLst/>
            <a:ahLst/>
            <a:cxnLst/>
            <a:rect r="r" b="b" t="t" l="l"/>
            <a:pathLst>
              <a:path h="7899178" w="5584993">
                <a:moveTo>
                  <a:pt x="0" y="0"/>
                </a:moveTo>
                <a:lnTo>
                  <a:pt x="5584993" y="0"/>
                </a:lnTo>
                <a:lnTo>
                  <a:pt x="5584993" y="7899178"/>
                </a:lnTo>
                <a:lnTo>
                  <a:pt x="0" y="78991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13926" y="1152525"/>
            <a:ext cx="6968021" cy="1238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13"/>
              </a:lnSpc>
              <a:spcBef>
                <a:spcPct val="0"/>
              </a:spcBef>
            </a:pPr>
            <a:r>
              <a:rPr lang="en-US" b="true" sz="8955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Mail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792643"/>
            <a:ext cx="3664792" cy="382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6"/>
              </a:lnSpc>
              <a:spcBef>
                <a:spcPct val="0"/>
              </a:spcBef>
            </a:pPr>
            <a:r>
              <a:rPr lang="en-US" sz="277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Newsletter email: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DAGnz5AjISo</dc:identifier>
  <dcterms:modified xsi:type="dcterms:W3CDTF">2011-08-01T06:04:30Z</dcterms:modified>
  <cp:revision>1</cp:revision>
  <dc:title>Purple Black Modern Marketing Plan Presentation</dc:title>
</cp:coreProperties>
</file>